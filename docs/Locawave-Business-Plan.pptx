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744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A2744"/>
                </a:solidFill>
                <a:latin typeface="Cambria"/>
              </a:rPr>
              <a:t>Revenus annuels (millions FCFA)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Abonnements</c:v>
                </c:pt>
              </c:strCache>
            </c:strRef>
          </c:tx>
          <c:spPr>
            <a:solidFill>
              <a:srgbClr val="1A27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An 1</c:v>
                  </c:pt>
                  <c:pt idx="1">
                    <c:v>An 2</c:v>
                  </c:pt>
                  <c:pt idx="2">
                    <c:v>An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10.8</c:v>
                </c:pt>
                <c:pt idx="1">
                  <c:v>43.2</c:v>
                </c:pt>
                <c:pt idx="2">
                  <c:v>108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Commissions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An 1</c:v>
                  </c:pt>
                  <c:pt idx="1">
                    <c:v>An 2</c:v>
                  </c:pt>
                  <c:pt idx="2">
                    <c:v>An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3.5</c:v>
                </c:pt>
                <c:pt idx="1">
                  <c:v>21</c:v>
                </c:pt>
                <c:pt idx="2">
                  <c:v>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Locawave est une plateforme déjà en production. Ce business plan présente le marché, le modèle économique et la trajectoire de croissance.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point central : ce n'est pas un problème d'outil, c'est un problème de CONFIANCE.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Chiffres vérifiés en juillet 2026. Le TAM est une hypothèse explicite, à affiner avec des études terrain.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C'est LA fonctionnalité qui justifie l'abonnement pour la diaspora. Aucun concurrent local ne l'offre.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754880" cy="47548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F97316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173736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373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17320" y="1783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Locawave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2606040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L'OS du logement au Sénégal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85800" y="41148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Trouver · Louer · Gérer · Entretenir · Servir — avec des paiements sécurisés sous séquestre.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5760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Plan ·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logement au Sénégal : un marché immense, sans infrastructure de confiance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blocages structurels freinent propriétaires, locataires et artisans.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84248"/>
            <a:ext cx="566928" cy="566928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842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!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91640" y="185623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diaspora investit à l'aveugle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91640" y="2240280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700 000 Sénégalais à l'étranger financent des constructions qu'ils ne peuvent ni voir ni contrôler. Détournements et chantiers abandonnés sont fréquents.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584448"/>
            <a:ext cx="566928" cy="566928"/>
          </a:xfrm>
          <a:prstGeom prst="ellipse">
            <a:avLst/>
          </a:prstGeom>
          <a:solidFill>
            <a:srgbClr val="FEF3C7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5844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91640" y="345643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gestion locative reste artisanale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91640" y="3840480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Cahiers, WhatsApp, Excel. Aucune traçabilité des loyers, des quittances ni des impayés. Relances manuelles chronophages.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80060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5184648"/>
            <a:ext cx="566928" cy="566928"/>
          </a:xfrm>
          <a:prstGeom prst="ellipse">
            <a:avLst/>
          </a:prstGeom>
          <a:solidFill>
            <a:srgbClr val="E0E7FF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1846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91640" y="505663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Aucune garantie sur les artisans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91640" y="5440680"/>
            <a:ext cx="9509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identité vérifiée, ni historique, ni recours en cas de malfaçon. Le paiement précède la preuve du travail.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marché porté par la diaspora et le déficit de logements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: BCEAO / Banque mondiale (2025), Ministère de l'Urbanisme, presse économique sénégalaise.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874520"/>
          </a:xfrm>
          <a:prstGeom prst="roundRect">
            <a:avLst>
              <a:gd name="adj" fmla="val 5854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81051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2 800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04672" y="2523744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milliards FCFA transférés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la diaspora en 2025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(~10 % du PIB)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600200"/>
            <a:ext cx="2606040" cy="1874520"/>
          </a:xfrm>
          <a:prstGeom prst="roundRect">
            <a:avLst>
              <a:gd name="adj" fmla="val 5854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39312" y="181051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300 000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639312" y="2523744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logements manquants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Sénégal, déficit qui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progresse de ~10 %/an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2606040" cy="1874520"/>
          </a:xfrm>
          <a:prstGeom prst="roundRect">
            <a:avLst>
              <a:gd name="adj" fmla="val 5854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3952" y="181051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120 000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473952" y="2523744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logements à construire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année pour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absorber la demande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52560" y="1600200"/>
            <a:ext cx="2606040" cy="1874520"/>
          </a:xfrm>
          <a:prstGeom prst="roundRect">
            <a:avLst>
              <a:gd name="adj" fmla="val 5854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08592" y="181051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700 000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9308592" y="2523744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Sénégalais vivant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l'étranger, dont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~200 000 en France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1A274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9776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fort : l'État lance un Fonds Commun de Placement Immobilier — Diaspora (FCPI-DS)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14400" y="437083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L'objectif public est de canaliser les transferts vers l'immobilier. Locawave apporte la brique manquante : la couche de confiance et de traçabilité qui rend cet investissement contrôlable à distance.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adressable estimé — hypothèse de travail : 5 % des transferts fléchés immobilier = ~140 Md FCFA de flux transitant potentiellement par une plateforme de confiance.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solution : un seul parcours, de la recherche à l'entretien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 où les concurrents couvrent une étape, Locawave couvre le cycle complet du logement.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057400" cy="246888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938528"/>
            <a:ext cx="502920" cy="502920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385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257860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Trouver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49808" y="2962656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Annonces vérifiées,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par carte,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visites vidéo diaspora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16352" y="1737360"/>
            <a:ext cx="2057400" cy="246888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17520" y="1938528"/>
            <a:ext cx="502920" cy="502920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19385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17520" y="257860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Louer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017520" y="2962656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Candidature en ligne,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locataire,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bail généré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84064" y="1737360"/>
            <a:ext cx="2057400" cy="246888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85232" y="1938528"/>
            <a:ext cx="502920" cy="502920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6" name="Text 14"/>
          <p:cNvSpPr/>
          <p:nvPr/>
        </p:nvSpPr>
        <p:spPr>
          <a:xfrm>
            <a:off x="5285232" y="19385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85232" y="257860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Gérer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285232" y="2962656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Loyers, quittances PDF,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rappels WhatsApp,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finances par bien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51776" y="1737360"/>
            <a:ext cx="2057400" cy="246888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52944" y="1938528"/>
            <a:ext cx="502920" cy="502920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1" name="Text 19"/>
          <p:cNvSpPr/>
          <p:nvPr/>
        </p:nvSpPr>
        <p:spPr>
          <a:xfrm>
            <a:off x="7552944" y="19385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552944" y="257860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Entretenir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552944" y="2962656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 chantier,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par phase,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temps réel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619488" y="1737360"/>
            <a:ext cx="2057400" cy="246888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20656" y="1938528"/>
            <a:ext cx="502920" cy="502920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6" name="Text 24"/>
          <p:cNvSpPr/>
          <p:nvPr/>
        </p:nvSpPr>
        <p:spPr>
          <a:xfrm>
            <a:off x="9820656" y="19385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820656" y="257860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Servir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820656" y="2962656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Artisans vérifiés,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messagerie intégrée,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santé &amp; formation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45262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1A274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46817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fil rouge : la confiance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14400" y="504748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obligatoire · Séquestre sur chaque transaction · Trust Score des artisans · Médiation des litiges · Journal d'audit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n'est pas un concept : le produit est en production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phases de développement livrées, déployées et testées de bout en bout.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Socle technique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2971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+ Supabase (PostgreSQL, PostGIS)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RLS sur 100 % des tables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installable (PWA)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continu Vercel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43400" y="169164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19202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Fonctionnel livré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617720" y="2377440"/>
            <a:ext cx="2971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d'annonces + candidatures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Espaces locataire &amp; prestataire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 chantier avec séquestre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 temps réel, litiges, Trust Score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38160" y="169164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19202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Automatisation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412480" y="2377440"/>
            <a:ext cx="2971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Rappels WhatsApp J-5 / J / J+3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Quittances PDF automatiques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Marquage des impayés quotidien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 mensuels et annuels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 à activer côté exploitation : compte PayDunya (Wave + Orange Money), messagerie Twilio, secret Vault pour les automatisations.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avantage décisif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960120"/>
            <a:ext cx="585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suivi de chantier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avec paiement par phase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6060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propriétaire installé à Paris finance sa maison à Diamniadio. Le chef de chantier documente chaque phase par photos et vidéos horodatées. Les fonds restent sous séquestre : ils ne sont libérés qu'après validation du propriétaire.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13232" y="4261104"/>
            <a:ext cx="201168" cy="20116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420624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déplacement, contrôle total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13232" y="4736592"/>
            <a:ext cx="201168" cy="20116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4681728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paiement suit la preuve, jamais l'inverse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13232" y="5212080"/>
            <a:ext cx="201168" cy="20116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5157216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complète, exportable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0" y="960120"/>
            <a:ext cx="4754880" cy="4754880"/>
          </a:xfrm>
          <a:prstGeom prst="roundRect">
            <a:avLst>
              <a:gd name="adj" fmla="val 2308"/>
            </a:avLst>
          </a:prstGeom>
          <a:solidFill>
            <a:srgbClr val="1E3A5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78040" y="1234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Villa R+1 — Diamniadio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78040" y="1828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41832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Validée &amp; payée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78040" y="2157984"/>
            <a:ext cx="4160520" cy="12801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6" name="Shape 14"/>
          <p:cNvSpPr/>
          <p:nvPr/>
        </p:nvSpPr>
        <p:spPr>
          <a:xfrm>
            <a:off x="7178040" y="2157984"/>
            <a:ext cx="4114800" cy="128016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7178040" y="2670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Élévation murs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418320" y="26700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Soumise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178040" y="2999232"/>
            <a:ext cx="4160520" cy="12801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20" name="Shape 18"/>
          <p:cNvSpPr/>
          <p:nvPr/>
        </p:nvSpPr>
        <p:spPr>
          <a:xfrm>
            <a:off x="7178040" y="2999232"/>
            <a:ext cx="2468880" cy="128016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7178040" y="35112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Toiture &amp; finitions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418320" y="35112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Planifiée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78040" y="3840480"/>
            <a:ext cx="4160520" cy="12801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24" name="Shape 22"/>
          <p:cNvSpPr/>
          <p:nvPr/>
        </p:nvSpPr>
        <p:spPr>
          <a:xfrm>
            <a:off x="7178040" y="4663440"/>
            <a:ext cx="1280160" cy="777240"/>
          </a:xfrm>
          <a:prstGeom prst="roundRect">
            <a:avLst>
              <a:gd name="adj" fmla="val 11765"/>
            </a:avLst>
          </a:prstGeom>
          <a:solidFill>
            <a:srgbClr val="334155"/>
          </a:solidFill>
          <a:ln/>
        </p:spPr>
      </p:sp>
      <p:sp>
        <p:nvSpPr>
          <p:cNvPr id="25" name="Text 23"/>
          <p:cNvSpPr/>
          <p:nvPr/>
        </p:nvSpPr>
        <p:spPr>
          <a:xfrm>
            <a:off x="7178040" y="47548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78040" y="49834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M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595360" y="4663440"/>
            <a:ext cx="1280160" cy="777240"/>
          </a:xfrm>
          <a:prstGeom prst="roundRect">
            <a:avLst>
              <a:gd name="adj" fmla="val 11765"/>
            </a:avLst>
          </a:prstGeom>
          <a:solidFill>
            <a:srgbClr val="334155"/>
          </a:solidFill>
          <a:ln/>
        </p:spPr>
      </p:sp>
      <p:sp>
        <p:nvSpPr>
          <p:cNvPr id="28" name="Text 26"/>
          <p:cNvSpPr/>
          <p:nvPr/>
        </p:nvSpPr>
        <p:spPr>
          <a:xfrm>
            <a:off x="8595360" y="47548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Séquestre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595360" y="49834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M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012680" y="4663440"/>
            <a:ext cx="1280160" cy="777240"/>
          </a:xfrm>
          <a:prstGeom prst="roundRect">
            <a:avLst>
              <a:gd name="adj" fmla="val 11765"/>
            </a:avLst>
          </a:prstGeom>
          <a:solidFill>
            <a:srgbClr val="334155"/>
          </a:solidFill>
          <a:ln/>
        </p:spPr>
      </p:sp>
      <p:sp>
        <p:nvSpPr>
          <p:cNvPr id="31" name="Text 29"/>
          <p:cNvSpPr/>
          <p:nvPr/>
        </p:nvSpPr>
        <p:spPr>
          <a:xfrm>
            <a:off x="10012680" y="475488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Libéré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012680" y="49834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M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Modèle économique : abonnement récurrent + commission d'usage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moteurs complémentaires : un revenu prévisible, un revenu qui grandit avec l'activité.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60320" cy="269748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1579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Jusqu'à 5 biens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4505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10 000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FCFA / mois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locataire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Rappels WhatsApp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Quittances PDF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645920"/>
            <a:ext cx="2560320" cy="2697480"/>
          </a:xfrm>
          <a:prstGeom prst="roundRect">
            <a:avLst>
              <a:gd name="adj" fmla="val 4286"/>
            </a:avLst>
          </a:prstGeom>
          <a:solidFill>
            <a:srgbClr val="1A274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1828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11880" y="21579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Jusqu'à 25 biens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11880" y="24505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20 000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611880" y="29260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FCFA / mois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11880" y="32461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 chantier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Séquestre &amp; litiges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Rapports mensuels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645920"/>
            <a:ext cx="2560320" cy="269748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828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Agence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0" y="21579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Biens illimités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24505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45 000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400800" y="29260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FCFA / mois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32461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complète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 illimités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support dédié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052560" y="1645920"/>
            <a:ext cx="2560320" cy="2697480"/>
          </a:xfrm>
          <a:prstGeom prst="roundRect">
            <a:avLst>
              <a:gd name="adj" fmla="val 4286"/>
            </a:avLst>
          </a:prstGeom>
          <a:solidFill>
            <a:srgbClr val="F97316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0" y="20116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+ 5 %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9326880" y="26700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commission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326880" y="301752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chaque transaction de service ou de chantier, prélevée à la libération du séquestre.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commission sur les loyers.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4617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non négociable : Locawave ne détient jamais les fonds. Le séquestre est un statut piloté chez un prestataire de paiement agréé (PayDunya → Wave + Orange Money).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revenu de commission croît avec l'usage de la plateforme, sans augmenter le prix payé par le propriétaire — c'est ce qui protège le taux de conversion.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Trajectoire financière — scénario de référence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Hypothèses prudentes : conversion 8 % de l'essai, panier moyen 18 000 FCFA, 2 transactions/client/an.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7665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691640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863840" y="18013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payants — An 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0" y="180136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589520" y="2606040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0" y="27157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payants — An 3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0" y="271576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589520" y="3520440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63840" y="36301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 An 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058400" y="363016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 M FCFA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589520" y="4434840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63840" y="454456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de rentabilité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058400" y="454456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~An 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Projections illustratives, à réviser après les 3 premiers mois d'exploitation réelle.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déclenche l'abonnement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 leviers, classés par impact attendu sur la conversion.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37944"/>
            <a:ext cx="438912" cy="43891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379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72821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Gratuit jusqu'à 2 biens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371600" y="2020824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 la barrière d'entrée. Le propriétaire teste sur son bien réel, puis paie quand son parc grandit.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889504"/>
            <a:ext cx="438912" cy="43891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8895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277977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chantier comme produit d'appel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371600" y="3072384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Facturé à l'usage, sans abonnement. Le client entre par la douleur la plus forte, puis découvre la gestion locative.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941064"/>
            <a:ext cx="438912" cy="43891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9410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383133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L'invitation du locataire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371600" y="4123944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propriétaire amène ses locataires. Ceux-ci découvrent la marque et deviennent prescripteurs ou futurs propriétaires.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75488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992624"/>
            <a:ext cx="438912" cy="43891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9926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71600" y="488289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marketplace comme aimant SEO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371600" y="5175504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annonces publiques attirent un trafic gratuit de chercheurs de logement, convertis en comptes.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09360" y="1600200"/>
            <a:ext cx="5303520" cy="9144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37960" y="1837944"/>
            <a:ext cx="438912" cy="43891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183794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32320" y="172821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réseau d'artisans vérifiés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132320" y="2020824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il y a d'artisans, plus la plateforme est utile ; plus elle est utile, plus les artisans viennent. Effet de réseau.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09360" y="2651760"/>
            <a:ext cx="5303520" cy="9144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37960" y="2889504"/>
            <a:ext cx="438912" cy="43891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1" name="Text 29"/>
          <p:cNvSpPr/>
          <p:nvPr/>
        </p:nvSpPr>
        <p:spPr>
          <a:xfrm>
            <a:off x="6537960" y="28895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132320" y="277977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parrainage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132320" y="3072384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mois offert par filleul actif. Coût d'acquisition quasi nul dans une communauté très interconnectée.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309360" y="3703320"/>
            <a:ext cx="5303520" cy="9144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37960" y="3941064"/>
            <a:ext cx="438912" cy="438912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36" name="Text 34"/>
          <p:cNvSpPr/>
          <p:nvPr/>
        </p:nvSpPr>
        <p:spPr>
          <a:xfrm>
            <a:off x="6537960" y="39410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132320" y="383133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Preuve sociale et Trust Score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7132320" y="4123944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 authentiques et badges de vérification : la réputation devient un actif que l'on ne veut pas quitter.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309360" y="4754880"/>
            <a:ext cx="5303520" cy="914400"/>
          </a:xfrm>
          <a:prstGeom prst="roundRect">
            <a:avLst>
              <a:gd name="adj" fmla="val 12000"/>
            </a:avLst>
          </a:prstGeom>
          <a:solidFill>
            <a:srgbClr val="1A274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83680" y="4892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nerf de la guerre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583680" y="517550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propriétaire qui a validé une phase de chantier sur Locawave ne repart plus. Le séquestre crée la fidélité.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Stratégie de mise sur le marché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vagues successives, chacune finançant la suivante.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2194560" cy="310896"/>
          </a:xfrm>
          <a:prstGeom prst="roundRect">
            <a:avLst>
              <a:gd name="adj" fmla="val 23529"/>
            </a:avLst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1 · Mois 1-6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diaspora en France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724912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Ciblage Facebook / WhatsApp des communautés sénégalaises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Partenariats avec les associations de ressortissants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Témoignages vidéo de chantiers réussis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50 clients payants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64592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874520"/>
            <a:ext cx="2194560" cy="310896"/>
          </a:xfrm>
          <a:prstGeom prst="roundRect">
            <a:avLst>
              <a:gd name="adj" fmla="val 23529"/>
            </a:avLst>
          </a:prstGeom>
          <a:solidFill>
            <a:srgbClr val="1A2744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87452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2 · Mois 7-18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17720" y="22860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agences de Dakar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17720" y="2724912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Démarchage direct des gestionnaires multi-biens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 Agence avec migration de portefeuille assistée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Présence aux salons immobiliers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200 clients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64592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1874520"/>
            <a:ext cx="2194560" cy="310896"/>
          </a:xfrm>
          <a:prstGeom prst="roundRect">
            <a:avLst>
              <a:gd name="adj" fmla="val 23529"/>
            </a:avLst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187452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3 · Mois 19-36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412480" y="22860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Régions et sous-région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12480" y="2724912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Thiès, Saint-Louis, Mbour puis Abidjan et Bamako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d'ambassadeurs rémunérés au parrainage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Partenariat bancaire / FCPI-Diaspora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500 clients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d'acquisition visé : moins de 25 000 FCFA par client payant, soit environ un mois et demi d'abonnement.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Positionnement concurrentiel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 ne couvre à la fois la gestion locative, le chantier et le paiement sécurisé.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3127248" cy="621792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1737360"/>
            <a:ext cx="14996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Annonces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21808" y="1737360"/>
            <a:ext cx="14996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94576" y="1737360"/>
            <a:ext cx="14996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Suivi 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chantier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67344" y="1737360"/>
            <a:ext cx="14996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Séquestre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40112" y="1737360"/>
            <a:ext cx="14996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Artisans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vérifiés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450592"/>
            <a:ext cx="3127248" cy="621792"/>
          </a:xfrm>
          <a:prstGeom prst="roundRect">
            <a:avLst>
              <a:gd name="adj" fmla="val 11765"/>
            </a:avLst>
          </a:prstGeom>
          <a:solidFill>
            <a:srgbClr val="1A274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450592"/>
            <a:ext cx="3127248" cy="621792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Locawave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49040" y="2450592"/>
            <a:ext cx="1499616" cy="621792"/>
          </a:xfrm>
          <a:prstGeom prst="roundRect">
            <a:avLst>
              <a:gd name="adj" fmla="val 11765"/>
            </a:avLst>
          </a:prstGeom>
          <a:solidFill>
            <a:srgbClr val="1A274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2450592"/>
            <a:ext cx="14996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21808" y="2450592"/>
            <a:ext cx="1499616" cy="621792"/>
          </a:xfrm>
          <a:prstGeom prst="roundRect">
            <a:avLst>
              <a:gd name="adj" fmla="val 11765"/>
            </a:avLst>
          </a:prstGeom>
          <a:solidFill>
            <a:srgbClr val="1A274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21808" y="2450592"/>
            <a:ext cx="14996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94576" y="2450592"/>
            <a:ext cx="1499616" cy="621792"/>
          </a:xfrm>
          <a:prstGeom prst="roundRect">
            <a:avLst>
              <a:gd name="adj" fmla="val 11765"/>
            </a:avLst>
          </a:prstGeom>
          <a:solidFill>
            <a:srgbClr val="1A274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94576" y="2450592"/>
            <a:ext cx="14996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67344" y="2450592"/>
            <a:ext cx="1499616" cy="621792"/>
          </a:xfrm>
          <a:prstGeom prst="roundRect">
            <a:avLst>
              <a:gd name="adj" fmla="val 11765"/>
            </a:avLst>
          </a:prstGeom>
          <a:solidFill>
            <a:srgbClr val="1A274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67344" y="2450592"/>
            <a:ext cx="14996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040112" y="2450592"/>
            <a:ext cx="1499616" cy="621792"/>
          </a:xfrm>
          <a:prstGeom prst="roundRect">
            <a:avLst>
              <a:gd name="adj" fmla="val 11765"/>
            </a:avLst>
          </a:prstGeom>
          <a:solidFill>
            <a:srgbClr val="1A274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40112" y="2450592"/>
            <a:ext cx="14996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163824"/>
            <a:ext cx="3127248" cy="621792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163824"/>
            <a:ext cx="3127248" cy="621792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Sites d'annonces locaux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749040" y="3163824"/>
            <a:ext cx="1499616" cy="621792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0" y="3163824"/>
            <a:ext cx="14996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321808" y="3163824"/>
            <a:ext cx="1499616" cy="621792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21808" y="3163824"/>
            <a:ext cx="14996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94576" y="3163824"/>
            <a:ext cx="1499616" cy="621792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94576" y="3163824"/>
            <a:ext cx="14996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467344" y="3163824"/>
            <a:ext cx="1499616" cy="621792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67344" y="3163824"/>
            <a:ext cx="14996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0040112" y="3163824"/>
            <a:ext cx="1499616" cy="621792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40112" y="3163824"/>
            <a:ext cx="14996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48640" y="3877056"/>
            <a:ext cx="3127248" cy="621792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877056"/>
            <a:ext cx="3127248" cy="621792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Logiciels de gestion (import)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749040" y="3877056"/>
            <a:ext cx="1499616" cy="621792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49040" y="3877056"/>
            <a:ext cx="14996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5321808" y="3877056"/>
            <a:ext cx="1499616" cy="621792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21808" y="3877056"/>
            <a:ext cx="14996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894576" y="3877056"/>
            <a:ext cx="1499616" cy="621792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94576" y="3877056"/>
            <a:ext cx="14996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8467344" y="3877056"/>
            <a:ext cx="1499616" cy="621792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467344" y="3877056"/>
            <a:ext cx="14996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10040112" y="3877056"/>
            <a:ext cx="1499616" cy="621792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040112" y="3877056"/>
            <a:ext cx="14996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548640" y="4590288"/>
            <a:ext cx="3127248" cy="621792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4590288"/>
            <a:ext cx="3127248" cy="621792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Groupes WhatsApp / informel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749040" y="4590288"/>
            <a:ext cx="1499616" cy="621792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49040" y="4590288"/>
            <a:ext cx="14996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321808" y="4590288"/>
            <a:ext cx="1499616" cy="621792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21808" y="4590288"/>
            <a:ext cx="14996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6894576" y="4590288"/>
            <a:ext cx="1499616" cy="621792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94576" y="4590288"/>
            <a:ext cx="14996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8467344" y="4590288"/>
            <a:ext cx="1499616" cy="621792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467344" y="4590288"/>
            <a:ext cx="14996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10040112" y="4590288"/>
            <a:ext cx="1499616" cy="621792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040112" y="4590288"/>
            <a:ext cx="14996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548640" y="534924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1A274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14400" y="55321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Barrières à l'entrée : la confiance ne se copie pas — elle s'accumule (historique de chantiers, Trust Score, réseau d'artisans vérifiés, intégration PSP agréée).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Feuille de route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lancement commercial à l'expansion régionale.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600200" y="1828800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160020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194560" y="2048256"/>
            <a:ext cx="1600200" cy="5486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65176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8346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312724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Lancement commercial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37033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PayDunya (Wave + OM), Twilio, premiers clients payants diaspora.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34840" y="1828800"/>
            <a:ext cx="502920" cy="502920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0" y="2048256"/>
            <a:ext cx="1600200" cy="5486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4" name="Shape 12"/>
          <p:cNvSpPr/>
          <p:nvPr/>
        </p:nvSpPr>
        <p:spPr>
          <a:xfrm>
            <a:off x="3383280" y="265176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1880" y="28346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2026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11880" y="312724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11880" y="37033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clients, 20 chantiers suivis, premières commissions récurrentes.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269480" y="1828800"/>
            <a:ext cx="502920" cy="502920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19" name="Text 17"/>
          <p:cNvSpPr/>
          <p:nvPr/>
        </p:nvSpPr>
        <p:spPr>
          <a:xfrm>
            <a:off x="726948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863840" y="2048256"/>
            <a:ext cx="1600200" cy="5486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1" name="Shape 19"/>
          <p:cNvSpPr/>
          <p:nvPr/>
        </p:nvSpPr>
        <p:spPr>
          <a:xfrm>
            <a:off x="6217920" y="265176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28346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46520" y="312724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46520" y="37033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 Agence, application mobile native, partenariats bancaires et assurantiels.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104120" y="1828800"/>
            <a:ext cx="502920" cy="502920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6" name="Text 24"/>
          <p:cNvSpPr/>
          <p:nvPr/>
        </p:nvSpPr>
        <p:spPr>
          <a:xfrm>
            <a:off x="1010412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052560" y="265176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81160" y="28346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281160" y="3127248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Expansion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281160" y="37033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Côte d'Ivoire et Mali, place de marché de matériaux, scoring de crédit locatif.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731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Prochaines étapes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produit est prêt. Trois actions séparent Locawave de son premier euro de revenu.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148840"/>
            <a:ext cx="10789920" cy="1051560"/>
          </a:xfrm>
          <a:prstGeom prst="roundRect">
            <a:avLst>
              <a:gd name="adj" fmla="val 10435"/>
            </a:avLst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4414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783080" y="23317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Activer les paiements réels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83080" y="267919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le compte PayDunya (KYB), activer Wave et Orange Money, brancher les clés.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95360" y="24963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+ délai de vérification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3383280"/>
            <a:ext cx="10789920" cy="1051560"/>
          </a:xfrm>
          <a:prstGeom prst="roundRect">
            <a:avLst>
              <a:gd name="adj" fmla="val 10435"/>
            </a:avLst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67588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783080" y="356616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Activer les notifications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83080" y="391363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Twilio WhatsApp et secret Vault : les rappels automatiques partent enfin.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95360" y="37307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minutes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4617720"/>
            <a:ext cx="10789920" cy="1051560"/>
          </a:xfrm>
          <a:prstGeom prst="roundRect">
            <a:avLst>
              <a:gd name="adj" fmla="val 10435"/>
            </a:avLst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91032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783080" y="480060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Recruter les 10 premiers clients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83080" y="514807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Diaspora France : 10 chantiers pilotes documentés, qui deviendront les témoignages de la vague 1.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95360" y="49651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à 8 semaines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60350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Locawave — L'infrastructure de confiance du logement au Sénégal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Locawave — Business Plan</dc:title>
  <dc:subject>PptxGenJS Presentation</dc:subject>
  <dc:creator>Locawave</dc:creator>
  <cp:lastModifiedBy>Locawave</cp:lastModifiedBy>
  <cp:revision>1</cp:revision>
  <dcterms:created xsi:type="dcterms:W3CDTF">2026-07-27T16:46:04Z</dcterms:created>
  <dcterms:modified xsi:type="dcterms:W3CDTF">2026-07-27T16:46:04Z</dcterms:modified>
</cp:coreProperties>
</file>